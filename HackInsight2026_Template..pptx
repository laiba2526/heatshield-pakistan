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 Insight 2026" id="{D27E10AB-BB75-0403-50BE-A673A199689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31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HACK INSIGHT 2026  |  NED University of Engineering &amp; Technology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Hack_Insight_2026_Tech_Banner__1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712464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NeuralPowerX/heatshield-pakista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smtClean="0">
                <a:solidFill>
                  <a:schemeClr val="tx2"/>
                </a:solidFill>
              </a:rPr>
              <a:t>Heat Shield Pakistan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 smtClean="0">
                <a:solidFill>
                  <a:schemeClr val="tx1"/>
                </a:solidFill>
              </a:rPr>
              <a:t>Team </a:t>
            </a:r>
            <a:r>
              <a:rPr lang="en-US" sz="1600" dirty="0" err="1" smtClean="0">
                <a:solidFill>
                  <a:schemeClr val="tx1"/>
                </a:solidFill>
              </a:rPr>
              <a:t>ByteStorm</a:t>
            </a:r>
            <a:r>
              <a:rPr lang="en-US" sz="1600" dirty="0" smtClean="0">
                <a:solidFill>
                  <a:schemeClr val="tx1"/>
                </a:solidFill>
              </a:rPr>
              <a:t> |  Climate &amp; heat-health( urban heat vulnerability and outdoor labor)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188720"/>
            <a:ext cx="49377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73352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Extreme summer heat in Karachi, Lahore and Jacobabad puts outdoor workers, such as construction workers, delivery riders and traffic police, at risk of heat stress and heatstroke. Officials need a reliable forecast of dangerous heat one to three days ahead, with a stated uncertainty, to decide when to issue advisories, shift working hours and </a:t>
            </a:r>
            <a:r>
              <a:rPr lang="en-US" dirty="0" err="1"/>
              <a:t>prioritise</a:t>
            </a:r>
            <a:r>
              <a:rPr lang="en-US" dirty="0"/>
              <a:t> cooling and hydration support.</a:t>
            </a:r>
            <a:endParaRPr lang="en-US" sz="1800" dirty="0"/>
          </a:p>
        </p:txBody>
      </p:sp>
      <p:sp>
        <p:nvSpPr>
          <p:cNvPr id="6" name="Side card 1"/>
          <p:cNvSpPr/>
          <p:nvPr/>
        </p:nvSpPr>
        <p:spPr>
          <a:xfrm>
            <a:off x="5669280" y="914400"/>
            <a:ext cx="301752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Number 1"/>
          <p:cNvSpPr txBox="1"/>
          <p:nvPr/>
        </p:nvSpPr>
        <p:spPr>
          <a:xfrm>
            <a:off x="5852160" y="12681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069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is affected?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4510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Outdoor workers (construction workers, delivery riders, traffic police)</a:t>
            </a:r>
          </a:p>
        </p:txBody>
      </p:sp>
      <p:sp>
        <p:nvSpPr>
          <p:cNvPr id="10" name="Side card 2"/>
          <p:cNvSpPr/>
          <p:nvPr/>
        </p:nvSpPr>
        <p:spPr>
          <a:xfrm>
            <a:off x="5669279" y="2075346"/>
            <a:ext cx="3017520" cy="1228116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Number 2"/>
          <p:cNvSpPr txBox="1"/>
          <p:nvPr/>
        </p:nvSpPr>
        <p:spPr>
          <a:xfrm>
            <a:off x="5852160" y="2377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271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does it matter?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635096"/>
            <a:ext cx="2400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Extreme heat can cause heatstroke, and officials currently lack a clear, uncertainty-aware forecast of dangerous heat to act on early.</a:t>
            </a:r>
          </a:p>
        </p:txBody>
      </p:sp>
      <p:sp>
        <p:nvSpPr>
          <p:cNvPr id="14" name="Side card 3"/>
          <p:cNvSpPr/>
          <p:nvPr/>
        </p:nvSpPr>
        <p:spPr>
          <a:xfrm>
            <a:off x="5669280" y="3474720"/>
            <a:ext cx="3017520" cy="12801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Number 3"/>
          <p:cNvSpPr txBox="1"/>
          <p:nvPr/>
        </p:nvSpPr>
        <p:spPr>
          <a:xfrm>
            <a:off x="585216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47856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goal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0591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Forecast the daily maximum heat index 1 to 3 days ahead, with a stated range and cited official guidance, so officials can issue timely heat advisories.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Dataset Declaration</a:t>
            </a:r>
            <a:endParaRPr lang="en-US" sz="32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42765"/>
              </p:ext>
            </p:extLst>
          </p:nvPr>
        </p:nvGraphicFramePr>
        <p:xfrm>
          <a:off x="457200" y="1188720"/>
          <a:ext cx="5486400" cy="318211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Dataset name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Historical &amp; Forecast Weather Data with Official Heat-Safety Guidelines</a:t>
                      </a:r>
                      <a:endParaRPr 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Source / link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Open-</a:t>
                      </a:r>
                      <a:r>
                        <a:rPr lang="en-US" sz="1200" dirty="0" err="1" smtClean="0">
                          <a:solidFill>
                            <a:schemeClr val="accent6"/>
                          </a:solidFill>
                        </a:rPr>
                        <a:t>Meteo</a:t>
                      </a: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, NASA POWER, Copernicus ERA5; NDMA, PDMA, PMD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smtClean="0">
                          <a:solidFill>
                            <a:schemeClr val="accent2"/>
                          </a:solidFill>
                        </a:rPr>
                        <a:t>Coverage</a:t>
                      </a:r>
                      <a:endParaRPr lang="en-US" sz="14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Karachi, Lahore &amp; Jacobabad</a:t>
                      </a:r>
                      <a:endParaRPr 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 smtClean="0">
                          <a:solidFill>
                            <a:schemeClr val="accent2"/>
                          </a:solidFill>
                        </a:rPr>
                        <a:t>Data Types</a:t>
                      </a:r>
                      <a:endParaRPr lang="en-US" sz="14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Historical weather, current forecasts &amp; heat index</a:t>
                      </a:r>
                      <a:endParaRPr 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Format &amp; license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CSV,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>
                          <a:solidFill>
                            <a:schemeClr val="accent6"/>
                          </a:solidFill>
                        </a:rPr>
                        <a:t>JSON</a:t>
                      </a: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 and PDF raw files, open </a:t>
                      </a:r>
                      <a:r>
                        <a:rPr lang="en-US" sz="1200" dirty="0" err="1" smtClean="0">
                          <a:solidFill>
                            <a:schemeClr val="accent6"/>
                          </a:solidFill>
                        </a:rPr>
                        <a:t>licences</a:t>
                      </a: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.</a:t>
                      </a:r>
                      <a:endParaRPr lang="en-US" sz="1200" dirty="0">
                        <a:solidFill>
                          <a:schemeClr val="accent6"/>
                        </a:solidFill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Key features / target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smtClean="0">
                          <a:solidFill>
                            <a:schemeClr val="accent6"/>
                          </a:solidFill>
                        </a:rPr>
                        <a:t>Temp, humidity, wind; target: daily max heat index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Stat card 1"/>
          <p:cNvSpPr/>
          <p:nvPr/>
        </p:nvSpPr>
        <p:spPr>
          <a:xfrm>
            <a:off x="6217920" y="1188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chemeClr val="bg1"/>
                </a:solidFill>
              </a:rPr>
              <a:t>Karachi</a:t>
            </a:r>
            <a:endParaRPr lang="en-US" sz="2800" dirty="0"/>
          </a:p>
        </p:txBody>
      </p:sp>
      <p:sp>
        <p:nvSpPr>
          <p:cNvPr id="7" name="Stat card 2"/>
          <p:cNvSpPr/>
          <p:nvPr/>
        </p:nvSpPr>
        <p:spPr>
          <a:xfrm>
            <a:off x="6217920" y="2331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217920" y="2441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 smtClean="0">
                <a:solidFill>
                  <a:schemeClr val="bg1"/>
                </a:solidFill>
              </a:rPr>
              <a:t>Lahore</a:t>
            </a:r>
            <a:endParaRPr lang="en-US" sz="28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3474720"/>
            <a:ext cx="2468880" cy="100584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3584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Jacobabad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Used</a:t>
            </a:r>
            <a:endParaRPr lang="en-US" sz="3200" dirty="0"/>
          </a:p>
        </p:txBody>
      </p:sp>
      <p:sp>
        <p:nvSpPr>
          <p:cNvPr id="3" name="Stage card 1"/>
          <p:cNvSpPr/>
          <p:nvPr/>
        </p:nvSpPr>
        <p:spPr>
          <a:xfrm>
            <a:off x="45720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4" name="Stage number 1"/>
          <p:cNvSpPr txBox="1"/>
          <p:nvPr/>
        </p:nvSpPr>
        <p:spPr>
          <a:xfrm>
            <a:off x="9829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accent6"/>
                </a:solidFill>
              </a:rPr>
              <a:t>API + Official pdfs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92024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Stage card 2"/>
          <p:cNvSpPr/>
          <p:nvPr/>
        </p:nvSpPr>
        <p:spPr>
          <a:xfrm>
            <a:off x="214884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9" name="Stage number 2"/>
          <p:cNvSpPr txBox="1"/>
          <p:nvPr/>
        </p:nvSpPr>
        <p:spPr>
          <a:xfrm>
            <a:off x="267462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Cleaning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Gates + quality agent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361188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Stage card 3"/>
          <p:cNvSpPr/>
          <p:nvPr/>
        </p:nvSpPr>
        <p:spPr>
          <a:xfrm>
            <a:off x="384048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4" name="Stage number 3"/>
          <p:cNvSpPr txBox="1"/>
          <p:nvPr/>
        </p:nvSpPr>
        <p:spPr>
          <a:xfrm>
            <a:off x="436626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/ EDA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NWS heat index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530352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8" name="Stage card 4"/>
          <p:cNvSpPr/>
          <p:nvPr/>
        </p:nvSpPr>
        <p:spPr>
          <a:xfrm>
            <a:off x="553212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tage number 4"/>
          <p:cNvSpPr txBox="1"/>
          <p:nvPr/>
        </p:nvSpPr>
        <p:spPr>
          <a:xfrm>
            <a:off x="605790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Forecast + intervals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6995160" y="2377440"/>
            <a:ext cx="182880" cy="2286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Stage card 5"/>
          <p:cNvSpPr/>
          <p:nvPr/>
        </p:nvSpPr>
        <p:spPr>
          <a:xfrm>
            <a:off x="7223760" y="1280160"/>
            <a:ext cx="1417320" cy="237744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4" name="Stage number 5"/>
          <p:cNvSpPr txBox="1"/>
          <p:nvPr/>
        </p:nvSpPr>
        <p:spPr>
          <a:xfrm>
            <a:off x="774954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19659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 / App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788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00" dirty="0">
                <a:solidFill>
                  <a:schemeClr val="accent6"/>
                </a:solidFill>
              </a:rPr>
              <a:t>Dashboard + RAG</a:t>
            </a:r>
            <a:endParaRPr lang="en-US" sz="1200" dirty="0"/>
          </a:p>
        </p:txBody>
      </p:sp>
      <p:sp>
        <p:nvSpPr>
          <p:cNvPr id="27" name="Summary bar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862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Raw weather and official guidance in  -&gt;  cited heat-risk forecasts with ranges out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Details &amp; Tools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7" name="To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662433"/>
              </p:ext>
            </p:extLst>
          </p:nvPr>
        </p:nvGraphicFramePr>
        <p:xfrm>
          <a:off x="457200" y="1110383"/>
          <a:ext cx="8229600" cy="3291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smtClean="0"/>
                        <a:t>STAGE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smtClean="0"/>
                        <a:t>TOOLS /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 smtClean="0"/>
                        <a:t>WHAT WE DID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Collection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Open-Meteo and NASA POWER APIs, GitHub Actions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Hourly fetch; each raw file SHA-256 hashed in a manifest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Preprocessing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Parquet, Data Quality Agent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Two quality gates; fix, fill, flag or quarantine, all logged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Analysis / EDA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NWS heat index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Daily max per city and PKT day; quality and data reports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Modeling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Python, bootstrap CIs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Chronological split; 1-3 day forecast with 80/90% intervals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Dashboard / App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Streamlit, Docker, Hugging Face Spaces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accent6"/>
                          </a:solidFill>
                        </a:rPr>
                        <a:t>Freshness, quality, last run, forecasts, cited RAG assistant</a:t>
                      </a:r>
                      <a:endParaRPr lang="en-US" sz="12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Dashboard / App Views</a:t>
            </a:r>
            <a:endParaRPr lang="en-US" sz="3200" dirty="0"/>
          </a:p>
        </p:txBody>
      </p:sp>
      <p:sp>
        <p:nvSpPr>
          <p:cNvPr id="3" name="Screenshot 1"/>
          <p:cNvSpPr/>
          <p:nvPr/>
        </p:nvSpPr>
        <p:spPr>
          <a:xfrm>
            <a:off x="457200" y="1188720"/>
            <a:ext cx="4937760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45720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Page 1 - [Overview]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6" name="Screenshot 2"/>
          <p:cNvSpPr/>
          <p:nvPr/>
        </p:nvSpPr>
        <p:spPr>
          <a:xfrm>
            <a:off x="5577840" y="118872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57784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Page 2 - [Name]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Screenshot 3"/>
          <p:cNvSpPr/>
          <p:nvPr/>
        </p:nvSpPr>
        <p:spPr>
          <a:xfrm>
            <a:off x="5577840" y="2743200"/>
            <a:ext cx="31089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294557" y="3089177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Paste screenshot here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huggingface.co</a:t>
            </a:r>
            <a:r>
              <a:rPr lang="en-US" sz="1200" dirty="0">
                <a:hlinkClick r:id="rId3"/>
              </a:rPr>
              <a:t>/spaces/</a:t>
            </a:r>
            <a:r>
              <a:rPr lang="en-US" sz="1200" dirty="0" err="1">
                <a:hlinkClick r:id="rId3"/>
              </a:rPr>
              <a:t>NeuralPowerX</a:t>
            </a:r>
            <a:r>
              <a:rPr lang="en-US" sz="1200" dirty="0">
                <a:hlinkClick r:id="rId3"/>
              </a:rPr>
              <a:t>/heatshield-</a:t>
            </a:r>
            <a:r>
              <a:rPr lang="en-US" sz="1200" dirty="0" err="1">
                <a:hlinkClick r:id="rId3"/>
              </a:rPr>
              <a:t>pakistan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6" y="1482822"/>
            <a:ext cx="4735541" cy="224643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624" y="1264186"/>
            <a:ext cx="3043698" cy="11132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1845" y="2836400"/>
            <a:ext cx="2884552" cy="994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188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Finding number 1"/>
          <p:cNvSpPr txBox="1"/>
          <p:nvPr/>
        </p:nvSpPr>
        <p:spPr>
          <a:xfrm>
            <a:off x="640080" y="1508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000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smtClean="0"/>
              <a:t>Early </a:t>
            </a:r>
            <a:r>
              <a:rPr lang="en-US" sz="1400" b="1" dirty="0"/>
              <a:t>Heat Warnings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1188720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Helps people prepare for extreme heat.</a:t>
            </a:r>
            <a:endParaRPr lang="en-US" sz="1200" dirty="0"/>
          </a:p>
        </p:txBody>
      </p:sp>
      <p:sp>
        <p:nvSpPr>
          <p:cNvPr id="7" name="Finding card 2"/>
          <p:cNvSpPr/>
          <p:nvPr/>
        </p:nvSpPr>
        <p:spPr>
          <a:xfrm>
            <a:off x="457200" y="2331720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Finding number 2"/>
          <p:cNvSpPr txBox="1"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5203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Data-Driven Insights</a:t>
            </a:r>
            <a:endParaRPr lang="en-US" sz="1400" b="1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90752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smtClean="0"/>
              <a:t>Uses </a:t>
            </a:r>
            <a:r>
              <a:rPr lang="en-US" sz="1200" dirty="0"/>
              <a:t>historical data and current forecasts to predict heat conditions.</a:t>
            </a:r>
            <a:endParaRPr lang="en-US" sz="1200" dirty="0"/>
          </a:p>
        </p:txBody>
      </p:sp>
      <p:sp>
        <p:nvSpPr>
          <p:cNvPr id="11" name="Finding card 3"/>
          <p:cNvSpPr/>
          <p:nvPr/>
        </p:nvSpPr>
        <p:spPr>
          <a:xfrm>
            <a:off x="457200" y="3495923"/>
            <a:ext cx="51206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2" name="Finding number 3"/>
          <p:cNvSpPr txBox="1"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745727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/>
              <a:t>Safety Guidance</a:t>
            </a:r>
            <a:endParaRPr lang="en-US" sz="1400" b="1" dirty="0"/>
          </a:p>
        </p:txBody>
      </p:sp>
      <p:sp>
        <p:nvSpPr>
          <p:cNvPr id="14" name="Text 12"/>
          <p:cNvSpPr txBox="1"/>
          <p:nvPr/>
        </p:nvSpPr>
        <p:spPr>
          <a:xfrm>
            <a:off x="1195346" y="4023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/>
              <a:t>Provides useful precautions through an AI assistant using official guidance documents.</a:t>
            </a:r>
            <a:endParaRPr lang="en-US" sz="1200" dirty="0"/>
          </a:p>
        </p:txBody>
      </p:sp>
      <p:sp>
        <p:nvSpPr>
          <p:cNvPr id="15" name="Impact card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0807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IMPACT</a:t>
            </a:r>
            <a:endParaRPr lang="en-US" sz="1200" dirty="0"/>
          </a:p>
        </p:txBody>
      </p:sp>
      <p:sp>
        <p:nvSpPr>
          <p:cNvPr id="18" name="Future work card"/>
          <p:cNvSpPr/>
          <p:nvPr/>
        </p:nvSpPr>
        <p:spPr>
          <a:xfrm>
            <a:off x="5852160" y="2880360"/>
            <a:ext cx="28346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8076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6080760" y="1737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Officials get early, cited, uncertainty-aware heat warnings for outdoor workers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60807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Pakistan-specific thresholds, Urdu output, more cities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Team &amp; Credits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[TEAM NAME]</a:t>
            </a:r>
            <a:endParaRPr lang="en-US" sz="2800" dirty="0"/>
          </a:p>
        </p:txBody>
      </p:sp>
      <p:sp>
        <p:nvSpPr>
          <p:cNvPr id="4" name="Member card 1"/>
          <p:cNvSpPr/>
          <p:nvPr/>
        </p:nvSpPr>
        <p:spPr>
          <a:xfrm>
            <a:off x="45720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5" name="Avatar 1"/>
          <p:cNvSpPr txBox="1"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bg1"/>
                </a:solidFill>
              </a:rPr>
              <a:t>AATIQA BATOOL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accent4"/>
                </a:solidFill>
              </a:rPr>
              <a:t>CT - 056</a:t>
            </a:r>
            <a:endParaRPr lang="en-US" sz="1200" dirty="0"/>
          </a:p>
        </p:txBody>
      </p:sp>
      <p:sp>
        <p:nvSpPr>
          <p:cNvPr id="8" name="Member card 2"/>
          <p:cNvSpPr/>
          <p:nvPr/>
        </p:nvSpPr>
        <p:spPr>
          <a:xfrm>
            <a:off x="256032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Avatar 2"/>
          <p:cNvSpPr txBox="1"/>
          <p:nvPr/>
        </p:nvSpPr>
        <p:spPr>
          <a:xfrm>
            <a:off x="320040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bg1"/>
                </a:solidFill>
              </a:rPr>
              <a:t>YUSRA NOOR 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accent4"/>
                </a:solidFill>
              </a:rPr>
              <a:t>CT - 075</a:t>
            </a:r>
            <a:endParaRPr lang="en-US" sz="1200" dirty="0"/>
          </a:p>
        </p:txBody>
      </p:sp>
      <p:sp>
        <p:nvSpPr>
          <p:cNvPr id="12" name="Member card 3"/>
          <p:cNvSpPr/>
          <p:nvPr/>
        </p:nvSpPr>
        <p:spPr>
          <a:xfrm>
            <a:off x="466344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3" name="Avatar 3"/>
          <p:cNvSpPr txBox="1"/>
          <p:nvPr/>
        </p:nvSpPr>
        <p:spPr>
          <a:xfrm>
            <a:off x="530352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bg1"/>
                </a:solidFill>
              </a:rPr>
              <a:t>LAIBA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accent4"/>
                </a:solidFill>
              </a:rPr>
              <a:t>CT - 208</a:t>
            </a:r>
            <a:endParaRPr lang="en-US" sz="1200" dirty="0"/>
          </a:p>
        </p:txBody>
      </p:sp>
      <p:sp>
        <p:nvSpPr>
          <p:cNvPr id="16" name="Member card 4"/>
          <p:cNvSpPr/>
          <p:nvPr/>
        </p:nvSpPr>
        <p:spPr>
          <a:xfrm>
            <a:off x="6766560" y="1828800"/>
            <a:ext cx="1920240" cy="1783080"/>
          </a:xfrm>
          <a:prstGeom prst="roundRect">
            <a:avLst>
              <a:gd name="adj" fmla="val 5128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7" name="Avatar 4"/>
          <p:cNvSpPr txBox="1"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AB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smtClean="0">
                <a:solidFill>
                  <a:schemeClr val="bg1"/>
                </a:solidFill>
              </a:rPr>
              <a:t>ABDULLAH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chemeClr val="accent4"/>
                </a:solidFill>
              </a:rPr>
              <a:t>CT - 234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Mentor / Supervisor: </a:t>
            </a:r>
            <a:r>
              <a:rPr lang="en-US" sz="1400" dirty="0" smtClean="0">
                <a:solidFill>
                  <a:schemeClr val="bg1"/>
                </a:solidFill>
              </a:rPr>
              <a:t>Muhammad </a:t>
            </a:r>
            <a:r>
              <a:rPr lang="en-US" sz="1400" dirty="0" err="1" smtClean="0">
                <a:solidFill>
                  <a:schemeClr val="bg1"/>
                </a:solidFill>
              </a:rPr>
              <a:t>Taha</a:t>
            </a:r>
            <a:r>
              <a:rPr lang="en-US" sz="1400" dirty="0" smtClean="0">
                <a:solidFill>
                  <a:schemeClr val="bg1"/>
                </a:solidFill>
              </a:rPr>
              <a:t> Sharif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Thank you!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ckInsight">
  <a:themeElements>
    <a:clrScheme name="HackInsight">
      <a:dk1>
        <a:srgbClr val="151515"/>
      </a:dk1>
      <a:lt1>
        <a:srgbClr val="FFFFFF"/>
      </a:lt1>
      <a:dk2>
        <a:srgbClr val="0B5D2A"/>
      </a:dk2>
      <a:lt2>
        <a:srgbClr val="EAF6EE"/>
      </a:lt2>
      <a:accent1>
        <a:srgbClr val="1FA84F"/>
      </a:accent1>
      <a:accent2>
        <a:srgbClr val="0B5D2A"/>
      </a:accent2>
      <a:accent3>
        <a:srgbClr val="151515"/>
      </a:accent3>
      <a:accent4>
        <a:srgbClr val="8FD9A8"/>
      </a:accent4>
      <a:accent5>
        <a:srgbClr val="F2B632"/>
      </a:accent5>
      <a:accent6>
        <a:srgbClr val="5F6B66"/>
      </a:accent6>
      <a:hlink>
        <a:srgbClr val="1FA84F"/>
      </a:hlink>
      <a:folHlink>
        <a:srgbClr val="0B5D2A"/>
      </a:folHlink>
    </a:clrScheme>
    <a:fontScheme name="HackIns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548</Words>
  <Application>Microsoft Office PowerPoint</Application>
  <PresentationFormat>On-screen Show (16:9)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HackInsight</vt:lpstr>
      <vt:lpstr>Heat Shield Pakistan</vt:lpstr>
      <vt:lpstr>Problem Statement</vt:lpstr>
      <vt:lpstr>Dataset Declaration</vt:lpstr>
      <vt:lpstr>Pipeline Used</vt:lpstr>
      <vt:lpstr>Pipeline Details &amp; Tools</vt:lpstr>
      <vt:lpstr>Dashboard / App Views</vt:lpstr>
      <vt:lpstr>Conclusion</vt:lpstr>
      <vt:lpstr>Team &amp; Credits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Insight 2026 - Team Template</dc:title>
  <dc:subject>PptxGenJS Presentation</dc:subject>
  <dc:creator>PptxGenJS</dc:creator>
  <cp:lastModifiedBy>Noman Traders</cp:lastModifiedBy>
  <cp:revision>7</cp:revision>
  <dcterms:created xsi:type="dcterms:W3CDTF">2026-10-21T15:16:12Z</dcterms:created>
  <dcterms:modified xsi:type="dcterms:W3CDTF">2026-10-21T16:22:49Z</dcterms:modified>
</cp:coreProperties>
</file>